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This is a portfolio piece — a single-product marketing site for a fictional field-grade smartwatch. The story is the work, not the 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challenge: make a single-product site feel like a premium hardware artifact, not a spec sheet. Self-directed — one product, one page, one idea, executed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idea — 'Wear the instrument.' A field-grade tool you wear: machined, tactile, engineering-led. That one line drove every design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system: titanium canvas, sapphire accent, gold reserved for tiny details. Three typefaces with strict roles, and the editorial Edition / Section numbering motif that runs through the whole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hero. Video behind, the 'Wear the instrument' headline, and a spec ticker that establishes the watch as a real instrument: Caliber T-12, 14-day endurance, 200m, Grade-5 titanium. Drop the real hero screenshot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signature section and the centerpiece of the build. An exploded view of the watch with tappable A–E callouts. 84 components in a 12mm case — this is where the 'instrument' idea pays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page moves. Scroll choreography with IntersectionObserver and rAF, a looping spec marquee, a Remotion-built cinematic reel, and the ecosystem mesh — one signal, every device, across a 12-product family.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small decisions. Six features each given their own moment, the consistent sapphire/titanium language, the quiet non-marketing copy voice, and the 'Built in Berlin, 2026' framing.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outcome: live, shipped, fully responsive on Vercel, with a working contact pipeline behind it. Point to the live link and the hero screenshots. Drop the desktop and mobile captures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Recap the four disciplines this single project shows: visual design, narrative, front-end engineering, motion. Hand off the live link and contact. End on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k1-day2.vercel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k1-day2.vercel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3D7EE0">
                  <a:alpha val="14000"/>
                </a:srgbClr>
              </a:gs>
              <a:gs pos="60000">
                <a:srgbClr val="3D7EE0">
                  <a:alpha val="0"/>
                </a:srgbClr>
              </a:gs>
            </a:gsLst>
            <a:path path="circle">
              <a:fillToRect l="22000" t="40000" r="78000" b="6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8B939C">
                  <a:alpha val="5000"/>
                </a:srgbClr>
              </a:gs>
              <a:gs pos="100000">
                <a:srgbClr val="8B939C">
                  <a:alpha val="0"/>
                </a:srgbClr>
              </a:gs>
            </a:gsLst>
            <a:lin ang="5400000" scaled="0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1" y="0"/>
            <a:ext cx="9144001" cy="10287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1" y="0"/>
            <a:ext cx="9144001" cy="10287000"/>
          </a:xfrm>
          <a:prstGeom prst="rect">
            <a:avLst/>
          </a:prstGeom>
          <a:gradFill rotWithShape="1">
            <a:gsLst>
              <a:gs pos="0">
                <a:srgbClr val="3D7EE0">
                  <a:alpha val="32000"/>
                </a:srgbClr>
              </a:gs>
              <a:gs pos="62000">
                <a:srgbClr val="3D7EE0">
                  <a:alpha val="0"/>
                </a:srgbClr>
              </a:gs>
            </a:gsLst>
            <a:path path="circle">
              <a:fillToRect l="60000" t="45000" r="40000" b="55000"/>
            </a:path>
          </a:gradFill>
          <a:ln/>
        </p:spPr>
      </p:sp>
      <p:sp>
        <p:nvSpPr>
          <p:cNvPr id="6" name="Text 3"/>
          <p:cNvSpPr/>
          <p:nvPr/>
        </p:nvSpPr>
        <p:spPr>
          <a:xfrm>
            <a:off x="1066767" y="857250"/>
            <a:ext cx="307545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60" kern="0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421805" y="878417"/>
            <a:ext cx="180991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TESTER.IO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28909" y="955146"/>
            <a:ext cx="9525" cy="142875"/>
          </a:xfrm>
          <a:prstGeom prst="rect">
            <a:avLst/>
          </a:prstGeom>
          <a:solidFill>
            <a:srgbClr val="8B939C">
              <a:alpha val="3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400061" y="878417"/>
            <a:ext cx="321764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 — 2026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66767" y="2855681"/>
            <a:ext cx="972315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CASE STUDY ] </a:t>
            </a:r>
            <a:pPr algn="l" indent="0" marL="0">
              <a:buNone/>
            </a:pPr>
            <a:r>
              <a:rPr lang="en-US" sz="1800" spc="432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MARKETING SITE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6767" y="3437765"/>
            <a:ext cx="9104411" cy="2379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600" i="1" spc="-336" kern="0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Tester Smart Watch Pro</a:t>
            </a:r>
            <a:endParaRPr lang="en-US" sz="9600" dirty="0"/>
          </a:p>
        </p:txBody>
      </p:sp>
      <p:sp>
        <p:nvSpPr>
          <p:cNvPr id="12" name="Text 9"/>
          <p:cNvSpPr/>
          <p:nvPr/>
        </p:nvSpPr>
        <p:spPr>
          <a:xfrm>
            <a:off x="1066767" y="6140483"/>
            <a:ext cx="6082665" cy="1028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EEF1F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site that wears like an instrument.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066767" y="8790616"/>
            <a:ext cx="25489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Tricia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066767" y="9133417"/>
            <a:ext cx="254897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DEVELOPER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038454" y="8854282"/>
            <a:ext cx="3867547" cy="575469"/>
          </a:xfrm>
          <a:prstGeom prst="roundRect">
            <a:avLst>
              <a:gd name="adj" fmla="val 50000"/>
            </a:avLst>
          </a:prstGeom>
          <a:solidFill>
            <a:srgbClr val="3D7EE0">
              <a:alpha val="6000"/>
            </a:srgbClr>
          </a:solidFill>
          <a:ln w="10583">
            <a:solidFill>
              <a:srgbClr val="8B939C">
                <a:alpha val="34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77637" y="8988690"/>
            <a:ext cx="3505207" cy="344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7DA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wk1-day2.vercel.app ↗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3D7EE0">
                  <a:alpha val="9000"/>
                </a:srgbClr>
              </a:gs>
              <a:gs pos="55000">
                <a:srgbClr val="3D7EE0">
                  <a:alpha val="0"/>
                </a:srgbClr>
              </a:gs>
            </a:gsLst>
            <a:path path="circle">
              <a:fillToRect l="70000" t="0" r="3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767" y="857250"/>
            <a:ext cx="350450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[ 01 ] </a:t>
            </a:r>
            <a:pPr algn="l" indent="0" marL="0">
              <a:buNone/>
            </a:pPr>
            <a:r>
              <a:rPr lang="en-US" sz="1800" spc="396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BRIEF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098530" y="857250"/>
            <a:ext cx="453497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TESTER SMART WATCH PRO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767" y="1975611"/>
            <a:ext cx="1776991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7DA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767" y="2595728"/>
            <a:ext cx="13342621" cy="2405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50" i="1" spc="-166" kern="0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a single-product site feel like a </a:t>
            </a:r>
            <a:pPr algn="l" indent="0" marL="0">
              <a:lnSpc>
                <a:spcPct val="112000"/>
              </a:lnSpc>
              <a:buNone/>
            </a:pPr>
            <a:r>
              <a:rPr lang="en-US" sz="5550" i="1" spc="-166" kern="0" dirty="0">
                <a:solidFill>
                  <a:srgbClr val="7DA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hardware artifact </a:t>
            </a:r>
            <a:pPr algn="l" indent="0" marL="0">
              <a:lnSpc>
                <a:spcPct val="112000"/>
              </a:lnSpc>
              <a:buNone/>
            </a:pPr>
            <a:r>
              <a:rPr lang="en-US" sz="5550" i="1" spc="-166" kern="0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not a spec sheet.</a:t>
            </a:r>
            <a:endParaRPr lang="en-US" sz="5550" dirty="0"/>
          </a:p>
        </p:txBody>
      </p:sp>
      <p:sp>
        <p:nvSpPr>
          <p:cNvPr id="7" name="Text 5"/>
          <p:cNvSpPr/>
          <p:nvPr/>
        </p:nvSpPr>
        <p:spPr>
          <a:xfrm>
            <a:off x="1066767" y="5382617"/>
            <a:ext cx="9614536" cy="1366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EEF1F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self-directed build. One product, one page, one idea — taken end to end: visual direction, narrative, hand-written front-end, motion, and a working contact pipeline behind it.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66767" y="7396924"/>
            <a:ext cx="12954001" cy="10583"/>
          </a:xfrm>
          <a:prstGeom prst="rect">
            <a:avLst/>
          </a:prstGeom>
          <a:solidFill>
            <a:srgbClr val="8B939C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767" y="7731291"/>
            <a:ext cx="4749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066767" y="8036058"/>
            <a:ext cx="47498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Developer — sole build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84767" y="7731291"/>
            <a:ext cx="4749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384767" y="8036058"/>
            <a:ext cx="47498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Hand-written HTML / CSS / JS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702768" y="7731291"/>
            <a:ext cx="4749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702768" y="8036058"/>
            <a:ext cx="47498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— live in production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3D7EE0">
                  <a:alpha val="10000"/>
                </a:srgbClr>
              </a:gs>
              <a:gs pos="60000">
                <a:srgbClr val="3D7EE0">
                  <a:alpha val="0"/>
                </a:srgbClr>
              </a:gs>
            </a:gsLst>
            <a:path path="circle">
              <a:fillToRect l="25000" t="50000" r="75000" b="5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09787" y="0"/>
            <a:ext cx="8778214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767" y="857250"/>
            <a:ext cx="391669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[ 02 ] </a:t>
            </a:r>
            <a:pPr algn="l" indent="0" marL="0">
              <a:buNone/>
            </a:pPr>
            <a:r>
              <a:rPr lang="en-US" sz="1800" spc="396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CONCEPT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098530" y="857250"/>
            <a:ext cx="453497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TESTER SMART WATCH PRO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66767" y="2271944"/>
            <a:ext cx="1012552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7DA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IDEA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767" y="2834845"/>
            <a:ext cx="9481171" cy="2241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850" i="1" spc="-354" kern="0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Wear the instrument.</a:t>
            </a:r>
            <a:endParaRPr lang="en-US" sz="8850" dirty="0"/>
          </a:p>
        </p:txBody>
      </p:sp>
      <p:sp>
        <p:nvSpPr>
          <p:cNvPr id="8" name="Shape 5"/>
          <p:cNvSpPr/>
          <p:nvPr/>
        </p:nvSpPr>
        <p:spPr>
          <a:xfrm>
            <a:off x="1066767" y="5418832"/>
            <a:ext cx="1028568" cy="28443"/>
          </a:xfrm>
          <a:prstGeom prst="rect">
            <a:avLst/>
          </a:prstGeom>
          <a:gradFill rotWithShape="1">
            <a:gsLst>
              <a:gs pos="0">
                <a:srgbClr val="3D7EE0">
                  <a:alpha val="100000"/>
                </a:srgbClr>
              </a:gs>
              <a:gs pos="100000">
                <a:srgbClr val="3D7EE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" name="Text 6"/>
          <p:cNvSpPr/>
          <p:nvPr/>
        </p:nvSpPr>
        <p:spPr>
          <a:xfrm>
            <a:off x="1066767" y="5790076"/>
            <a:ext cx="6671311" cy="2262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EEF1F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gadget — a field-grade tool you wear. A single billet of brushed titanium, a sapphire sensor stack, fourteen days between charges. The site had to feel </a:t>
            </a:r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machined and tactile </a:t>
            </a:r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EEF1F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way the object would.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3D7EE0">
                  <a:alpha val="8000"/>
                </a:srgbClr>
              </a:gs>
              <a:gs pos="55000">
                <a:srgbClr val="3D7EE0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767" y="857250"/>
            <a:ext cx="515343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[ 03 ] </a:t>
            </a:r>
            <a:pPr algn="l" indent="0" marL="0">
              <a:buNone/>
            </a:pPr>
            <a:r>
              <a:rPr lang="en-US" sz="1800" spc="396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VISUAL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098530" y="857250"/>
            <a:ext cx="453497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TESTER SMART WATCH PRO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767" y="2893880"/>
            <a:ext cx="17769914" cy="742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50" i="1" spc="-166" kern="0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 built to feel machined.</a:t>
            </a:r>
            <a:endParaRPr lang="en-US" sz="5550" dirty="0"/>
          </a:p>
        </p:txBody>
      </p:sp>
      <p:sp>
        <p:nvSpPr>
          <p:cNvPr id="6" name="Shape 4"/>
          <p:cNvSpPr/>
          <p:nvPr/>
        </p:nvSpPr>
        <p:spPr>
          <a:xfrm>
            <a:off x="1066767" y="4093931"/>
            <a:ext cx="5993309" cy="3299024"/>
          </a:xfrm>
          <a:prstGeom prst="roundRect">
            <a:avLst>
              <a:gd name="adj" fmla="val 5197"/>
            </a:avLst>
          </a:prstGeom>
          <a:gradFill rotWithShape="1">
            <a:gsLst>
              <a:gs pos="0">
                <a:srgbClr val="181F27">
                  <a:alpha val="100000"/>
                </a:srgbClr>
              </a:gs>
              <a:gs pos="100000">
                <a:srgbClr val="13181E">
                  <a:alpha val="100000"/>
                </a:srgbClr>
              </a:gs>
            </a:gsLst>
            <a:lin ang="5400000" scaled="0"/>
          </a:gradFill>
          <a:ln w="10583">
            <a:solidFill>
              <a:srgbClr val="8B939C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9168" y="4466332"/>
            <a:ext cx="57733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— THREE ROLES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439168" y="5666218"/>
            <a:ext cx="5248507" cy="10583"/>
          </a:xfrm>
          <a:prstGeom prst="rect">
            <a:avLst/>
          </a:prstGeom>
          <a:solidFill>
            <a:srgbClr val="8B939C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39168" y="4904383"/>
            <a:ext cx="770070" cy="628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50" i="1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2323538" y="5253633"/>
            <a:ext cx="16975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EF1F4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Fraunces · display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439168" y="6457653"/>
            <a:ext cx="5248507" cy="10583"/>
          </a:xfrm>
          <a:prstGeom prst="rect">
            <a:avLst/>
          </a:prstGeom>
          <a:solidFill>
            <a:srgbClr val="8B939C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439168" y="5848119"/>
            <a:ext cx="612147" cy="476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2165615" y="6059785"/>
            <a:ext cx="20745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EF1F4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Montserrat · UI / body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439168" y="6639553"/>
            <a:ext cx="53343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7DA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086901" y="6819470"/>
            <a:ext cx="21689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EF1F4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JetBrains Mono · labels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7345826" y="4093931"/>
            <a:ext cx="4794746" cy="3299024"/>
          </a:xfrm>
          <a:prstGeom prst="roundRect">
            <a:avLst>
              <a:gd name="adj" fmla="val 5197"/>
            </a:avLst>
          </a:prstGeom>
          <a:gradFill rotWithShape="1">
            <a:gsLst>
              <a:gs pos="0">
                <a:srgbClr val="181F27">
                  <a:alpha val="100000"/>
                </a:srgbClr>
              </a:gs>
              <a:gs pos="100000">
                <a:srgbClr val="13181E">
                  <a:alpha val="100000"/>
                </a:srgbClr>
              </a:gs>
            </a:gsLst>
            <a:lin ang="5400000" scaled="0"/>
          </a:gradFill>
          <a:ln w="10583">
            <a:solidFill>
              <a:srgbClr val="8B939C">
                <a:alpha val="16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18227" y="4466332"/>
            <a:ext cx="44549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PALETTE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7718227" y="4933983"/>
            <a:ext cx="400017" cy="400017"/>
          </a:xfrm>
          <a:prstGeom prst="roundRect">
            <a:avLst>
              <a:gd name="adj" fmla="val 21430"/>
            </a:avLst>
          </a:prstGeom>
          <a:solidFill>
            <a:srgbClr val="0B0D10"/>
          </a:solidFill>
          <a:ln w="10583">
            <a:solidFill>
              <a:srgbClr val="8B939C">
                <a:alpha val="3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0545" y="5033367"/>
            <a:ext cx="171005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EF1F4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Titanium </a:t>
            </a:r>
            <a:pPr algn="l" indent="0" marL="0">
              <a:buNone/>
            </a:pPr>
            <a:r>
              <a:rPr lang="en-US" sz="1200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#0B0D10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18227" y="5486301"/>
            <a:ext cx="400017" cy="400017"/>
          </a:xfrm>
          <a:prstGeom prst="roundRect">
            <a:avLst>
              <a:gd name="adj" fmla="val 21430"/>
            </a:avLst>
          </a:prstGeom>
          <a:solidFill>
            <a:srgbClr val="EEF1F4"/>
          </a:solidFill>
          <a:ln/>
        </p:spPr>
      </p:sp>
      <p:sp>
        <p:nvSpPr>
          <p:cNvPr id="21" name="Text 19"/>
          <p:cNvSpPr/>
          <p:nvPr/>
        </p:nvSpPr>
        <p:spPr>
          <a:xfrm>
            <a:off x="8270545" y="5585685"/>
            <a:ext cx="1408278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EF1F4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Cream </a:t>
            </a:r>
            <a:pPr algn="l" indent="0" marL="0">
              <a:buNone/>
            </a:pPr>
            <a:r>
              <a:rPr lang="en-US" sz="1200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#EEF1F4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18227" y="6038619"/>
            <a:ext cx="400017" cy="400017"/>
          </a:xfrm>
          <a:prstGeom prst="roundRect">
            <a:avLst>
              <a:gd name="adj" fmla="val 21430"/>
            </a:avLst>
          </a:prstGeom>
          <a:gradFill rotWithShape="1">
            <a:gsLst>
              <a:gs pos="0">
                <a:srgbClr val="7DAEF5">
                  <a:alpha val="100000"/>
                </a:srgbClr>
              </a:gs>
              <a:gs pos="100000">
                <a:srgbClr val="2A5FB8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3" name="Text 21"/>
          <p:cNvSpPr/>
          <p:nvPr/>
        </p:nvSpPr>
        <p:spPr>
          <a:xfrm>
            <a:off x="8270545" y="6138003"/>
            <a:ext cx="171005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EF1F4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Sapphire </a:t>
            </a:r>
            <a:pPr algn="l" indent="0" marL="0">
              <a:buNone/>
            </a:pPr>
            <a:r>
              <a:rPr lang="en-US" sz="1200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#3D7EE0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18227" y="6590937"/>
            <a:ext cx="400017" cy="400017"/>
          </a:xfrm>
          <a:prstGeom prst="roundRect">
            <a:avLst>
              <a:gd name="adj" fmla="val 21430"/>
            </a:avLst>
          </a:prstGeom>
          <a:gradFill rotWithShape="1">
            <a:gsLst>
              <a:gs pos="0">
                <a:srgbClr val="F5E6C8">
                  <a:alpha val="100000"/>
                </a:srgbClr>
              </a:gs>
              <a:gs pos="100000">
                <a:srgbClr val="C6A559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5" name="Text 23"/>
          <p:cNvSpPr/>
          <p:nvPr/>
        </p:nvSpPr>
        <p:spPr>
          <a:xfrm>
            <a:off x="8270545" y="6690321"/>
            <a:ext cx="2213008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EF1F4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 · detail </a:t>
            </a:r>
            <a:pPr algn="l" indent="0" marL="0">
              <a:buNone/>
            </a:pPr>
            <a:r>
              <a:rPr lang="en-US" sz="1200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#E6B979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426322" y="4093931"/>
            <a:ext cx="4794746" cy="3299024"/>
          </a:xfrm>
          <a:prstGeom prst="roundRect">
            <a:avLst>
              <a:gd name="adj" fmla="val 5197"/>
            </a:avLst>
          </a:prstGeom>
          <a:gradFill rotWithShape="1">
            <a:gsLst>
              <a:gs pos="0">
                <a:srgbClr val="181F27">
                  <a:alpha val="100000"/>
                </a:srgbClr>
              </a:gs>
              <a:gs pos="100000">
                <a:srgbClr val="13181E">
                  <a:alpha val="100000"/>
                </a:srgbClr>
              </a:gs>
            </a:gsLst>
            <a:lin ang="5400000" scaled="0"/>
          </a:gradFill>
          <a:ln w="10583">
            <a:solidFill>
              <a:srgbClr val="8B939C">
                <a:alpha val="16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798723" y="4466332"/>
            <a:ext cx="44549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&amp; NUMBERING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12436906" y="4104515"/>
            <a:ext cx="4773580" cy="3277857"/>
          </a:xfrm>
          <a:prstGeom prst="rect">
            <a:avLst/>
          </a:prstGeom>
          <a:gradFill rotWithShape="1">
            <a:gsLst>
              <a:gs pos="0">
                <a:srgbClr val="8B939C">
                  <a:alpha val="16000"/>
                </a:srgbClr>
              </a:gs>
              <a:gs pos="100000">
                <a:srgbClr val="8B939C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29" name="Text 27"/>
          <p:cNvSpPr/>
          <p:nvPr/>
        </p:nvSpPr>
        <p:spPr>
          <a:xfrm>
            <a:off x="12798723" y="5795202"/>
            <a:ext cx="445493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81" kern="0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EDITION 01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12798723" y="6093520"/>
            <a:ext cx="445493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81" kern="0" dirty="0">
                <a:solidFill>
                  <a:srgbClr val="EEF1F4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 — HERO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2798723" y="6506270"/>
            <a:ext cx="4171442" cy="552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EF1F4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Bracketed indices anchor every section — a quiet editorial spine.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3D7EE0">
                  <a:alpha val="10000"/>
                </a:srgbClr>
              </a:gs>
              <a:gs pos="60000">
                <a:srgbClr val="3D7EE0">
                  <a:alpha val="0"/>
                </a:srgbClr>
              </a:gs>
            </a:gsLst>
            <a:path path="circle">
              <a:fillToRect l="80000" t="40000" r="20000" b="6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767" y="857250"/>
            <a:ext cx="391669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[ 04 ] </a:t>
            </a:r>
            <a:pPr algn="l" indent="0" marL="0">
              <a:buNone/>
            </a:pPr>
            <a:r>
              <a:rPr lang="en-US" sz="1800" spc="396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OPENING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223009" y="857250"/>
            <a:ext cx="329804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 &amp; NARRATIVE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767" y="3344333"/>
            <a:ext cx="6322824" cy="1237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i="1" spc="-135" kern="0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screen sets the tone.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066767" y="4829969"/>
            <a:ext cx="6322824" cy="1134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EF1F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video, the headline in serif, and a running spec ticker — the page opens like a product reveal, not a landing page.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66767" y="6307832"/>
            <a:ext cx="2373809" cy="526852"/>
          </a:xfrm>
          <a:prstGeom prst="roundRect">
            <a:avLst>
              <a:gd name="adj" fmla="val 50000"/>
            </a:avLst>
          </a:prstGeom>
          <a:ln w="10583">
            <a:solidFill>
              <a:srgbClr val="8B939C">
                <a:alpha val="3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7850" y="6537854"/>
            <a:ext cx="66642" cy="66642"/>
          </a:xfrm>
          <a:prstGeom prst="ellipse">
            <a:avLst/>
          </a:prstGeom>
          <a:solidFill>
            <a:srgbClr val="3D7EE0"/>
          </a:solidFill>
          <a:ln/>
        </p:spPr>
      </p:sp>
      <p:sp>
        <p:nvSpPr>
          <p:cNvPr id="9" name="Text 7"/>
          <p:cNvSpPr/>
          <p:nvPr/>
        </p:nvSpPr>
        <p:spPr>
          <a:xfrm>
            <a:off x="1429742" y="6423092"/>
            <a:ext cx="1885950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Caliber T-12 / Apex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54843" y="6307832"/>
            <a:ext cx="2977059" cy="526852"/>
          </a:xfrm>
          <a:prstGeom prst="roundRect">
            <a:avLst>
              <a:gd name="adj" fmla="val 50000"/>
            </a:avLst>
          </a:prstGeom>
          <a:ln w="10583">
            <a:solidFill>
              <a:srgbClr val="8B939C">
                <a:alpha val="3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55926" y="6537854"/>
            <a:ext cx="66642" cy="66642"/>
          </a:xfrm>
          <a:prstGeom prst="ellipse">
            <a:avLst/>
          </a:prstGeom>
          <a:solidFill>
            <a:srgbClr val="3D7EE0"/>
          </a:solidFill>
          <a:ln/>
        </p:spPr>
      </p:sp>
      <p:sp>
        <p:nvSpPr>
          <p:cNvPr id="12" name="Text 10"/>
          <p:cNvSpPr/>
          <p:nvPr/>
        </p:nvSpPr>
        <p:spPr>
          <a:xfrm>
            <a:off x="3917818" y="6423092"/>
            <a:ext cx="2489200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14-day endurance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767" y="6948951"/>
            <a:ext cx="1167309" cy="526852"/>
          </a:xfrm>
          <a:prstGeom prst="roundRect">
            <a:avLst>
              <a:gd name="adj" fmla="val 50000"/>
            </a:avLst>
          </a:prstGeom>
          <a:ln w="10583">
            <a:solidFill>
              <a:srgbClr val="8B939C">
                <a:alpha val="3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7850" y="7178973"/>
            <a:ext cx="66642" cy="66642"/>
          </a:xfrm>
          <a:prstGeom prst="ellipse">
            <a:avLst/>
          </a:prstGeom>
          <a:solidFill>
            <a:srgbClr val="3D7EE0"/>
          </a:solidFill>
          <a:ln/>
        </p:spPr>
      </p:sp>
      <p:sp>
        <p:nvSpPr>
          <p:cNvPr id="15" name="Text 13"/>
          <p:cNvSpPr/>
          <p:nvPr/>
        </p:nvSpPr>
        <p:spPr>
          <a:xfrm>
            <a:off x="1429742" y="7064210"/>
            <a:ext cx="679450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200m / 20 ATM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348343" y="6948951"/>
            <a:ext cx="2977059" cy="526852"/>
          </a:xfrm>
          <a:prstGeom prst="roundRect">
            <a:avLst>
              <a:gd name="adj" fmla="val 50000"/>
            </a:avLst>
          </a:prstGeom>
          <a:ln w="10583">
            <a:solidFill>
              <a:srgbClr val="8B939C">
                <a:alpha val="3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9426" y="7178973"/>
            <a:ext cx="66642" cy="66642"/>
          </a:xfrm>
          <a:prstGeom prst="ellipse">
            <a:avLst/>
          </a:prstGeom>
          <a:solidFill>
            <a:srgbClr val="E6B979"/>
          </a:solidFill>
          <a:ln/>
        </p:spPr>
      </p:sp>
      <p:sp>
        <p:nvSpPr>
          <p:cNvPr id="18" name="Text 16"/>
          <p:cNvSpPr/>
          <p:nvPr/>
        </p:nvSpPr>
        <p:spPr>
          <a:xfrm>
            <a:off x="2711318" y="7064210"/>
            <a:ext cx="2489200" cy="334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Grade-5 titanium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814965" y="2743068"/>
            <a:ext cx="9406269" cy="5334000"/>
          </a:xfrm>
          <a:prstGeom prst="rect">
            <a:avLst/>
          </a:prstGeom>
          <a:ln w="10583">
            <a:solidFill>
              <a:srgbClr val="8B939C">
                <a:alpha val="3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3D7EE0">
                  <a:alpha val="13000"/>
                </a:srgbClr>
              </a:gs>
              <a:gs pos="62000">
                <a:srgbClr val="3D7EE0">
                  <a:alpha val="0"/>
                </a:srgbClr>
              </a:gs>
            </a:gsLst>
            <a:path path="circle">
              <a:fillToRect l="72000" t="50000" r="28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0397464" y="2190750"/>
            <a:ext cx="5905500" cy="5905500"/>
          </a:xfrm>
          <a:prstGeom prst="ellipse">
            <a:avLst/>
          </a:prstGeom>
          <a:gradFill rotWithShape="1">
            <a:gsLst>
              <a:gs pos="0">
                <a:srgbClr val="3D7EE0">
                  <a:alpha val="32000"/>
                </a:srgbClr>
              </a:gs>
              <a:gs pos="65000">
                <a:srgbClr val="3D7EE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84" b="-2084"/>
          <a:stretch/>
        </p:blipFill>
        <p:spPr>
          <a:xfrm>
            <a:off x="8807649" y="411427"/>
            <a:ext cx="9085296" cy="94639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6767" y="857250"/>
            <a:ext cx="412278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[ 05 ] </a:t>
            </a:r>
            <a:pPr algn="l" indent="0" marL="0">
              <a:buNone/>
            </a:pPr>
            <a:r>
              <a:rPr lang="en-US" sz="1800" spc="396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TEARDOWN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410367" y="857250"/>
            <a:ext cx="309195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CENTERPIECE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767" y="2098146"/>
            <a:ext cx="1676582" cy="1236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100" i="1" spc="-444" kern="0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</a:t>
            </a:r>
            <a:endParaRPr lang="en-US" sz="11100" dirty="0"/>
          </a:p>
        </p:txBody>
      </p:sp>
      <p:sp>
        <p:nvSpPr>
          <p:cNvPr id="8" name="Text 5"/>
          <p:cNvSpPr/>
          <p:nvPr/>
        </p:nvSpPr>
        <p:spPr>
          <a:xfrm>
            <a:off x="2800449" y="2934229"/>
            <a:ext cx="1894317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800449" y="3319363"/>
            <a:ext cx="189431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04" kern="0" dirty="0">
                <a:solidFill>
                  <a:srgbClr val="7DA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A 12MM CASE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1066767" y="3960647"/>
            <a:ext cx="5494020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1F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signature scroll section — an exploded view with five tappable callouts that reveal the watch from bezel to movement.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66767" y="5842166"/>
            <a:ext cx="5334000" cy="10583"/>
          </a:xfrm>
          <a:prstGeom prst="rect">
            <a:avLst/>
          </a:prstGeom>
          <a:solidFill>
            <a:srgbClr val="8B939C">
              <a:alpha val="16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066767" y="5366081"/>
            <a:ext cx="342801" cy="342801"/>
          </a:xfrm>
          <a:prstGeom prst="ellipse">
            <a:avLst/>
          </a:prstGeom>
          <a:ln w="10583">
            <a:solidFill>
              <a:srgbClr val="E6B97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9250" y="5376665"/>
            <a:ext cx="397834" cy="35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1580885" y="5415690"/>
            <a:ext cx="629841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Bezel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4257642" y="5442149"/>
            <a:ext cx="23574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Machined Grade-5 titanium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1066767" y="6462118"/>
            <a:ext cx="5334000" cy="10583"/>
          </a:xfrm>
          <a:prstGeom prst="rect">
            <a:avLst/>
          </a:prstGeom>
          <a:solidFill>
            <a:srgbClr val="8B939C">
              <a:alpha val="16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066767" y="5986033"/>
            <a:ext cx="342801" cy="342801"/>
          </a:xfrm>
          <a:prstGeom prst="ellipse">
            <a:avLst/>
          </a:prstGeom>
          <a:ln w="10583">
            <a:solidFill>
              <a:srgbClr val="E6B97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9250" y="5996616"/>
            <a:ext cx="397834" cy="35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580885" y="6035642"/>
            <a:ext cx="765440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Crystal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4771926" y="6062100"/>
            <a:ext cx="17917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Sapphire, AR-coated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1066767" y="7082069"/>
            <a:ext cx="5334000" cy="10583"/>
          </a:xfrm>
          <a:prstGeom prst="rect">
            <a:avLst/>
          </a:prstGeom>
          <a:solidFill>
            <a:srgbClr val="8B939C">
              <a:alpha val="16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066767" y="6605985"/>
            <a:ext cx="342801" cy="342801"/>
          </a:xfrm>
          <a:prstGeom prst="ellipse">
            <a:avLst/>
          </a:prstGeom>
          <a:ln w="10583">
            <a:solidFill>
              <a:srgbClr val="E6B97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9250" y="6616568"/>
            <a:ext cx="397834" cy="35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75" dirty="0"/>
          </a:p>
        </p:txBody>
      </p:sp>
      <p:sp>
        <p:nvSpPr>
          <p:cNvPr id="24" name="Text 21"/>
          <p:cNvSpPr/>
          <p:nvPr/>
        </p:nvSpPr>
        <p:spPr>
          <a:xfrm>
            <a:off x="1580885" y="6655594"/>
            <a:ext cx="1431197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block</a:t>
            </a:r>
            <a:endParaRPr lang="en-US" sz="1575" dirty="0"/>
          </a:p>
        </p:txBody>
      </p:sp>
      <p:sp>
        <p:nvSpPr>
          <p:cNvPr id="25" name="Text 22"/>
          <p:cNvSpPr/>
          <p:nvPr/>
        </p:nvSpPr>
        <p:spPr>
          <a:xfrm>
            <a:off x="4686267" y="6682053"/>
            <a:ext cx="1885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Optical + electrical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1066767" y="7702021"/>
            <a:ext cx="5334000" cy="10583"/>
          </a:xfrm>
          <a:prstGeom prst="rect">
            <a:avLst/>
          </a:prstGeom>
          <a:solidFill>
            <a:srgbClr val="8B939C">
              <a:alpha val="16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066767" y="7225936"/>
            <a:ext cx="342801" cy="342801"/>
          </a:xfrm>
          <a:prstGeom prst="ellipse">
            <a:avLst/>
          </a:prstGeom>
          <a:ln w="10583">
            <a:solidFill>
              <a:srgbClr val="E6B97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39250" y="7236520"/>
            <a:ext cx="397834" cy="35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275" dirty="0"/>
          </a:p>
        </p:txBody>
      </p:sp>
      <p:sp>
        <p:nvSpPr>
          <p:cNvPr id="29" name="Text 26"/>
          <p:cNvSpPr/>
          <p:nvPr/>
        </p:nvSpPr>
        <p:spPr>
          <a:xfrm>
            <a:off x="1580885" y="7275546"/>
            <a:ext cx="448601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</a:t>
            </a:r>
            <a:endParaRPr lang="en-US" sz="1575" dirty="0"/>
          </a:p>
        </p:txBody>
      </p:sp>
      <p:sp>
        <p:nvSpPr>
          <p:cNvPr id="30" name="Text 27"/>
          <p:cNvSpPr/>
          <p:nvPr/>
        </p:nvSpPr>
        <p:spPr>
          <a:xfrm>
            <a:off x="4600443" y="7302004"/>
            <a:ext cx="19803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14-day endurance pack</a:t>
            </a:r>
            <a:endParaRPr lang="en-US" sz="1125" dirty="0"/>
          </a:p>
        </p:txBody>
      </p:sp>
      <p:sp>
        <p:nvSpPr>
          <p:cNvPr id="31" name="Shape 28"/>
          <p:cNvSpPr/>
          <p:nvPr/>
        </p:nvSpPr>
        <p:spPr>
          <a:xfrm>
            <a:off x="1066767" y="7845889"/>
            <a:ext cx="342801" cy="342801"/>
          </a:xfrm>
          <a:prstGeom prst="ellipse">
            <a:avLst/>
          </a:prstGeom>
          <a:ln w="10583">
            <a:solidFill>
              <a:srgbClr val="E6B97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39250" y="7856472"/>
            <a:ext cx="397834" cy="35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275" dirty="0"/>
          </a:p>
        </p:txBody>
      </p:sp>
      <p:sp>
        <p:nvSpPr>
          <p:cNvPr id="33" name="Text 30"/>
          <p:cNvSpPr/>
          <p:nvPr/>
        </p:nvSpPr>
        <p:spPr>
          <a:xfrm>
            <a:off x="1580885" y="7895498"/>
            <a:ext cx="121589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Caliber T-12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5372034" y="7921956"/>
            <a:ext cx="11049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movement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3D7EE0">
                  <a:alpha val="10000"/>
                </a:srgbClr>
              </a:gs>
              <a:gs pos="60000">
                <a:srgbClr val="3D7EE0">
                  <a:alpha val="0"/>
                </a:srgbClr>
              </a:gs>
            </a:gsLst>
            <a:path path="circle">
              <a:fillToRect l="20000" t="30000" r="80000" b="7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767" y="857250"/>
            <a:ext cx="577190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[ 06 ] </a:t>
            </a:r>
            <a:pPr algn="l" indent="0" marL="0">
              <a:buNone/>
            </a:pPr>
            <a:r>
              <a:rPr lang="en-US" sz="1800" spc="396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INTERACTION &amp; MOTION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848127" y="857250"/>
            <a:ext cx="371041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 PAGE MOVES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66767" y="3437599"/>
            <a:ext cx="4931007" cy="1858202"/>
          </a:xfrm>
          <a:prstGeom prst="roundRect">
            <a:avLst>
              <a:gd name="adj" fmla="val 8201"/>
            </a:avLst>
          </a:prstGeom>
          <a:gradFill rotWithShape="1">
            <a:gsLst>
              <a:gs pos="0">
                <a:srgbClr val="181F27">
                  <a:alpha val="100000"/>
                </a:srgbClr>
              </a:gs>
              <a:gs pos="100000">
                <a:srgbClr val="13181E">
                  <a:alpha val="100000"/>
                </a:srgbClr>
              </a:gs>
            </a:gsLst>
            <a:lin ang="5400000" scaled="0"/>
          </a:gradFill>
          <a:ln w="10583">
            <a:solidFill>
              <a:srgbClr val="8B939C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2117" y="3752949"/>
            <a:ext cx="47303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7DA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SCROLL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382117" y="4095750"/>
            <a:ext cx="47303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choreography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382117" y="4466167"/>
            <a:ext cx="4429315" cy="552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EF1F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IntersectionObserver + requestAnimationFrame reveal each section in sequence.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26308" y="3437599"/>
            <a:ext cx="4931007" cy="1858202"/>
          </a:xfrm>
          <a:prstGeom prst="roundRect">
            <a:avLst>
              <a:gd name="adj" fmla="val 8201"/>
            </a:avLst>
          </a:prstGeom>
          <a:gradFill rotWithShape="1">
            <a:gsLst>
              <a:gs pos="0">
                <a:srgbClr val="181F27">
                  <a:alpha val="100000"/>
                </a:srgbClr>
              </a:gs>
              <a:gs pos="100000">
                <a:srgbClr val="13181E">
                  <a:alpha val="100000"/>
                </a:srgbClr>
              </a:gs>
            </a:gsLst>
            <a:lin ang="5400000" scaled="0"/>
          </a:gradFill>
          <a:ln w="10583">
            <a:solidFill>
              <a:srgbClr val="8B939C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1658" y="3752949"/>
            <a:ext cx="47303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7DA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MARQUEE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541658" y="4095750"/>
            <a:ext cx="47303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 ticker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6541658" y="4466167"/>
            <a:ext cx="4429315" cy="552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EF1F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looping marquee of caliber specs runs beneath the hero.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66767" y="5524335"/>
            <a:ext cx="4931007" cy="1858202"/>
          </a:xfrm>
          <a:prstGeom prst="roundRect">
            <a:avLst>
              <a:gd name="adj" fmla="val 8201"/>
            </a:avLst>
          </a:prstGeom>
          <a:gradFill rotWithShape="1">
            <a:gsLst>
              <a:gs pos="0">
                <a:srgbClr val="181F27">
                  <a:alpha val="100000"/>
                </a:srgbClr>
              </a:gs>
              <a:gs pos="100000">
                <a:srgbClr val="13181E">
                  <a:alpha val="100000"/>
                </a:srgbClr>
              </a:gs>
            </a:gsLst>
            <a:lin ang="5400000" scaled="0"/>
          </a:gradFill>
          <a:ln w="10583">
            <a:solidFill>
              <a:srgbClr val="8B939C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2117" y="5839685"/>
            <a:ext cx="47303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7DA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REEL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382117" y="6182486"/>
            <a:ext cx="47303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reel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82117" y="6552903"/>
            <a:ext cx="4429315" cy="552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EF1F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motion film built in Remotion (React), embedded as the centerpiece video.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26308" y="5524335"/>
            <a:ext cx="4931007" cy="1858202"/>
          </a:xfrm>
          <a:prstGeom prst="roundRect">
            <a:avLst>
              <a:gd name="adj" fmla="val 8201"/>
            </a:avLst>
          </a:prstGeom>
          <a:gradFill rotWithShape="1">
            <a:gsLst>
              <a:gs pos="0">
                <a:srgbClr val="181F27">
                  <a:alpha val="100000"/>
                </a:srgbClr>
              </a:gs>
              <a:gs pos="100000">
                <a:srgbClr val="13181E">
                  <a:alpha val="100000"/>
                </a:srgbClr>
              </a:gs>
            </a:gsLst>
            <a:lin ang="5400000" scaled="0"/>
          </a:gradFill>
          <a:ln w="10583">
            <a:solidFill>
              <a:srgbClr val="8B939C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1658" y="5839685"/>
            <a:ext cx="47303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7DA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ECOSYSTEM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541658" y="6182486"/>
            <a:ext cx="47303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device mesh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6541658" y="6552903"/>
            <a:ext cx="4429315" cy="552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EF1F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“One signal, every device” — a 12-product family wired into one canvas.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728814" y="1390551"/>
            <a:ext cx="5492419" cy="6544303"/>
          </a:xfrm>
          <a:prstGeom prst="rect">
            <a:avLst/>
          </a:prstGeom>
          <a:ln w="10583">
            <a:solidFill>
              <a:srgbClr val="8B939C">
                <a:alpha val="34000"/>
              </a:srgbClr>
            </a:solidFill>
            <a:prstDash val="solid"/>
          </a:ln>
          <a:effectLst>
            <a:outerShdw sx="100000" sy="100000" kx="0" ky="0" algn="bl" rotWithShape="0" blurRad="666750" dist="247650" dir="540000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728814" y="8163388"/>
            <a:ext cx="5492419" cy="1266362"/>
          </a:xfrm>
          <a:prstGeom prst="roundRect">
            <a:avLst>
              <a:gd name="adj" fmla="val 12034"/>
            </a:avLst>
          </a:prstGeom>
          <a:gradFill rotWithShape="1">
            <a:gsLst>
              <a:gs pos="0">
                <a:srgbClr val="3D7EE0">
                  <a:alpha val="14000"/>
                </a:srgbClr>
              </a:gs>
              <a:gs pos="100000">
                <a:srgbClr val="3D7EE0">
                  <a:alpha val="4000"/>
                </a:srgbClr>
              </a:gs>
            </a:gsLst>
            <a:lin ang="2700000" scaled="0"/>
          </a:gradFill>
          <a:ln w="10583">
            <a:solidFill>
              <a:srgbClr val="8B939C">
                <a:alpha val="34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05965" y="8440539"/>
            <a:ext cx="5086261" cy="75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i="1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signal. Every device.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3D7EE0">
                  <a:alpha val="8000"/>
                </a:srgbClr>
              </a:gs>
              <a:gs pos="55000">
                <a:srgbClr val="3D7EE0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767" y="857250"/>
            <a:ext cx="43288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[ 07 ] </a:t>
            </a:r>
            <a:pPr algn="l" indent="0" marL="0">
              <a:buNone/>
            </a:pPr>
            <a:r>
              <a:rPr lang="en-US" sz="1800" spc="396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CRAFT DETAILS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911171" y="857250"/>
            <a:ext cx="474106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FEATURES, ONE VOICE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767" y="2550087"/>
            <a:ext cx="17769914" cy="59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i="1" spc="-130" kern="0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features, each given a moment.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1066767" y="3483571"/>
            <a:ext cx="5245034" cy="1419820"/>
          </a:xfrm>
          <a:prstGeom prst="roundRect">
            <a:avLst>
              <a:gd name="adj" fmla="val 9392"/>
            </a:avLst>
          </a:prstGeom>
          <a:solidFill>
            <a:srgbClr val="13181E"/>
          </a:solidFill>
          <a:ln w="10583">
            <a:solidFill>
              <a:srgbClr val="8B939C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3918" y="3760722"/>
            <a:ext cx="51598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343918" y="4084505"/>
            <a:ext cx="515980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Sapphire optic stack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3918" y="4435740"/>
            <a:ext cx="51598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GLASS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6521318" y="3483571"/>
            <a:ext cx="5245200" cy="1419820"/>
          </a:xfrm>
          <a:prstGeom prst="roundRect">
            <a:avLst>
              <a:gd name="adj" fmla="val 9392"/>
            </a:avLst>
          </a:prstGeom>
          <a:solidFill>
            <a:srgbClr val="13181E"/>
          </a:solidFill>
          <a:ln w="10583">
            <a:solidFill>
              <a:srgbClr val="8B939C">
                <a:alpha val="1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8469" y="3760722"/>
            <a:ext cx="51599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798469" y="4084505"/>
            <a:ext cx="515998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Six-axis IMU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98469" y="4435740"/>
            <a:ext cx="51599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MOTION SENSING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1976034" y="3483571"/>
            <a:ext cx="5245034" cy="1419820"/>
          </a:xfrm>
          <a:prstGeom prst="roundRect">
            <a:avLst>
              <a:gd name="adj" fmla="val 9392"/>
            </a:avLst>
          </a:prstGeom>
          <a:solidFill>
            <a:srgbClr val="13181E"/>
          </a:solidFill>
          <a:ln w="10583">
            <a:solidFill>
              <a:srgbClr val="8B939C">
                <a:alpha val="1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3186" y="3760722"/>
            <a:ext cx="51598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253186" y="4084505"/>
            <a:ext cx="515980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Dual-band GNSS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53186" y="4435740"/>
            <a:ext cx="51598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POSITIONING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066767" y="5112908"/>
            <a:ext cx="5245034" cy="1419820"/>
          </a:xfrm>
          <a:prstGeom prst="roundRect">
            <a:avLst>
              <a:gd name="adj" fmla="val 9392"/>
            </a:avLst>
          </a:prstGeom>
          <a:solidFill>
            <a:srgbClr val="13181E"/>
          </a:solidFill>
          <a:ln w="10583">
            <a:solidFill>
              <a:srgbClr val="8B939C">
                <a:alpha val="16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43918" y="5390059"/>
            <a:ext cx="51598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343918" y="5713843"/>
            <a:ext cx="515980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endurance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43918" y="6065077"/>
            <a:ext cx="51598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BATTERY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6521318" y="5112908"/>
            <a:ext cx="5245200" cy="1419820"/>
          </a:xfrm>
          <a:prstGeom prst="roundRect">
            <a:avLst>
              <a:gd name="adj" fmla="val 9392"/>
            </a:avLst>
          </a:prstGeom>
          <a:solidFill>
            <a:srgbClr val="13181E"/>
          </a:solidFill>
          <a:ln w="10583">
            <a:solidFill>
              <a:srgbClr val="8B939C">
                <a:alpha val="16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8469" y="5390059"/>
            <a:ext cx="51599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798469" y="5713843"/>
            <a:ext cx="515998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 water resistance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98469" y="6065077"/>
            <a:ext cx="51599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 RATED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11976034" y="5112908"/>
            <a:ext cx="5245034" cy="1419820"/>
          </a:xfrm>
          <a:prstGeom prst="roundRect">
            <a:avLst>
              <a:gd name="adj" fmla="val 9392"/>
            </a:avLst>
          </a:prstGeom>
          <a:solidFill>
            <a:srgbClr val="13181E"/>
          </a:solidFill>
          <a:ln w="10583">
            <a:solidFill>
              <a:srgbClr val="8B939C">
                <a:alpha val="16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3186" y="5390059"/>
            <a:ext cx="51598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2253186" y="5713843"/>
            <a:ext cx="515980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AMOLED 1.4″ LTPO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253186" y="6065077"/>
            <a:ext cx="51598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1066767" y="6951762"/>
            <a:ext cx="16154467" cy="10583"/>
          </a:xfrm>
          <a:prstGeom prst="rect">
            <a:avLst/>
          </a:prstGeom>
          <a:solidFill>
            <a:srgbClr val="8B939C">
              <a:alpha val="1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66767" y="7248095"/>
            <a:ext cx="9450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7DA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066767" y="7514663"/>
            <a:ext cx="55880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1F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Sapphire / titanium vocabulary, used consistently.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603835" y="7248095"/>
            <a:ext cx="6192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7DA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6603835" y="7514663"/>
            <a:ext cx="558818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1F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Quiet, non-marketing copy — let specs speak.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141068" y="7248095"/>
            <a:ext cx="7277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2141068" y="7514663"/>
            <a:ext cx="558818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1F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“Built in Berlin, 2026” framing throughout.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3D7EE0">
                  <a:alpha val="11000"/>
                </a:srgbClr>
              </a:gs>
              <a:gs pos="60000">
                <a:srgbClr val="3D7EE0">
                  <a:alpha val="0"/>
                </a:srgbClr>
              </a:gs>
            </a:gsLst>
            <a:path path="circle">
              <a:fillToRect l="78000" t="50000" r="22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767" y="857250"/>
            <a:ext cx="371060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[ 08 ] </a:t>
            </a:r>
            <a:pPr algn="l" indent="0" marL="0">
              <a:buNone/>
            </a:pPr>
            <a:r>
              <a:rPr lang="en-US" sz="1800" spc="396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RESULT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848127" y="857250"/>
            <a:ext cx="371041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EF1F4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IN PRODUCTION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66767" y="3690772"/>
            <a:ext cx="85659" cy="85659"/>
          </a:xfrm>
          <a:prstGeom prst="ellipse">
            <a:avLst/>
          </a:prstGeom>
          <a:solidFill>
            <a:srgbClr val="6EE7A8"/>
          </a:solidFill>
          <a:ln/>
          <a:effectLst>
            <a:outerShdw sx="100000" sy="100000" kx="0" ky="0" algn="bl" rotWithShape="0" blurRad="114300" dist="50800" dir="16200000">
              <a:srgbClr val="6EE7A8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5710" y="3633060"/>
            <a:ext cx="539552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767" y="4081694"/>
            <a:ext cx="7107966" cy="76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850" i="1" spc="-205" kern="0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Shipped.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066767" y="5095545"/>
            <a:ext cx="6655641" cy="1134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EF1F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Single-page and fully responsive, built in hand-written vanilla front-end — no framework. Behind it, a working contact pipeline on Express + Supabase, Playwright-tested, deployed on Vercel.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66767" y="6573408"/>
            <a:ext cx="3751627" cy="613833"/>
          </a:xfrm>
          <a:prstGeom prst="roundRect">
            <a:avLst>
              <a:gd name="adj" fmla="val 50000"/>
            </a:avLst>
          </a:prstGeom>
          <a:solidFill>
            <a:srgbClr val="3D7EE0">
              <a:alpha val="7000"/>
            </a:srgbClr>
          </a:solidFill>
          <a:ln w="10583">
            <a:solidFill>
              <a:srgbClr val="8B939C">
                <a:alpha val="34000"/>
              </a:srgbClr>
            </a:solidFill>
            <a:prstDash val="solid"/>
          </a:ln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1344050" y="6726866"/>
            <a:ext cx="330960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u="sng" spc="108" kern="0" dirty="0">
                <a:solidFill>
                  <a:srgbClr val="7DA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wk1-day2.vercel.app ↗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00054" y="2838318"/>
            <a:ext cx="5593623" cy="5143500"/>
          </a:xfrm>
          <a:prstGeom prst="rect">
            <a:avLst/>
          </a:prstGeom>
          <a:ln w="10583">
            <a:solidFill>
              <a:srgbClr val="8B939C">
                <a:alpha val="3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922211" y="2838318"/>
            <a:ext cx="3299024" cy="5143500"/>
          </a:xfrm>
          <a:prstGeom prst="rect">
            <a:avLst/>
          </a:prstGeom>
          <a:ln w="10583">
            <a:solidFill>
              <a:srgbClr val="8B939C">
                <a:alpha val="34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3D7EE0">
                  <a:alpha val="14000"/>
                </a:srgbClr>
              </a:gs>
              <a:gs pos="62000">
                <a:srgbClr val="3D7EE0">
                  <a:alpha val="0"/>
                </a:srgbClr>
              </a:gs>
            </a:gsLst>
            <a:path path="circle">
              <a:fillToRect l="50000" t="45000" r="50000" b="55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8B939C">
                  <a:alpha val="5000"/>
                </a:srgbClr>
              </a:gs>
              <a:gs pos="100000">
                <a:srgbClr val="8B939C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4815128" y="3260328"/>
            <a:ext cx="865758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432" kern="0" dirty="0">
                <a:solidFill>
                  <a:srgbClr val="E6B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RECAP ] </a:t>
            </a:r>
            <a:pPr algn="ctr" indent="0" marL="0">
              <a:buNone/>
            </a:pPr>
            <a:r>
              <a:rPr lang="en-US" sz="1800" spc="432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PROJECT DEMONSTRATES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21894" y="3880445"/>
            <a:ext cx="10044212" cy="876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0" i="1" spc="-264" kern="0" dirty="0">
                <a:solidFill>
                  <a:srgbClr val="EEF1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page. Four disciplines.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4006784" y="5213946"/>
            <a:ext cx="2553229" cy="584068"/>
          </a:xfrm>
          <a:prstGeom prst="roundRect">
            <a:avLst>
              <a:gd name="adj" fmla="val 50000"/>
            </a:avLst>
          </a:prstGeom>
          <a:ln w="10583">
            <a:solidFill>
              <a:srgbClr val="8B939C">
                <a:alpha val="3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64819" y="5357879"/>
            <a:ext cx="2037160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08" kern="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design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31331" y="5213946"/>
            <a:ext cx="1949979" cy="584068"/>
          </a:xfrm>
          <a:prstGeom prst="roundRect">
            <a:avLst>
              <a:gd name="adj" fmla="val 50000"/>
            </a:avLst>
          </a:prstGeom>
          <a:ln w="10583">
            <a:solidFill>
              <a:srgbClr val="8B939C">
                <a:alpha val="3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89564" y="5357879"/>
            <a:ext cx="1433513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08" kern="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Narrative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52628" y="5213946"/>
            <a:ext cx="3759729" cy="584068"/>
          </a:xfrm>
          <a:prstGeom prst="roundRect">
            <a:avLst>
              <a:gd name="adj" fmla="val 50000"/>
            </a:avLst>
          </a:prstGeom>
          <a:ln w="10583">
            <a:solidFill>
              <a:srgbClr val="8B939C">
                <a:alpha val="3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92566" y="5357879"/>
            <a:ext cx="3279854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08" kern="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Front-end engineering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83676" y="5213946"/>
            <a:ext cx="1497542" cy="584068"/>
          </a:xfrm>
          <a:prstGeom prst="roundRect">
            <a:avLst>
              <a:gd name="adj" fmla="val 50000"/>
            </a:avLst>
          </a:prstGeom>
          <a:ln w="10583">
            <a:solidFill>
              <a:srgbClr val="8B939C">
                <a:alpha val="3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41909" y="5357879"/>
            <a:ext cx="981075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08" kern="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166" y="6407547"/>
            <a:ext cx="254897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Tricia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6166" y="6730339"/>
            <a:ext cx="254897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DEVELOPER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699170" y="6507593"/>
            <a:ext cx="9525" cy="419034"/>
          </a:xfrm>
          <a:prstGeom prst="rect">
            <a:avLst/>
          </a:prstGeom>
          <a:solidFill>
            <a:srgbClr val="8B939C">
              <a:alpha val="34000"/>
            </a:srgbClr>
          </a:solidFill>
          <a:ln/>
        </p:spPr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8834480" y="6563651"/>
            <a:ext cx="351705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u="sng" spc="108" kern="0" dirty="0">
                <a:solidFill>
                  <a:srgbClr val="7DA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wk1-day2.vercel.app 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89396" y="9533599"/>
            <a:ext cx="24735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6B9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93898" y="9549475"/>
            <a:ext cx="2242807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EF1F4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Wear the instrument.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2026-06-19T05:31:17Z</dcterms:created>
  <dcterms:modified xsi:type="dcterms:W3CDTF">2026-06-19T05:31:17Z</dcterms:modified>
</cp:coreProperties>
</file>